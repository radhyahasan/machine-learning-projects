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4630400" cy="8229600"/>
  <p:notesSz cx="8229600" cy="14630400"/>
  <p:embeddedFontLst>
    <p:embeddedFont>
      <p:font typeface="Consolas" panose="020B0609020204030204" pitchFamily="49" charset="0"/>
      <p:regular r:id="rId19"/>
      <p:bold r:id="rId20"/>
      <p:italic r:id="rId21"/>
      <p:boldItalic r:id="rId22"/>
    </p:embeddedFont>
    <p:embeddedFont>
      <p:font typeface="Lucida Calligraphy" panose="03010101010101010101" pitchFamily="66" charset="0"/>
      <p:regular r:id="rId23"/>
    </p:embeddedFont>
    <p:embeddedFont>
      <p:font typeface="Raleway" panose="020F0502020204030204" pitchFamily="2" charset="0"/>
      <p:regular r:id="rId24"/>
    </p:embeddedFont>
    <p:embeddedFont>
      <p:font typeface="Raleway Light" panose="020F0502020204030204" pitchFamily="2" charset="0"/>
      <p:regular r:id="rId25"/>
    </p:embeddedFont>
    <p:embeddedFont>
      <p:font typeface="Roboto" panose="02000000000000000000" pitchFamily="2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13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2541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69382"/>
            <a:ext cx="75564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Diabetes Prediction Using Neural Networks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793790" y="2175510"/>
            <a:ext cx="75564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Elective Course 2 – COMPbb5-3_52_02_2992_20261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2669857"/>
            <a:ext cx="75564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Jazan University – College of Engineering and Computer Science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60570" y="3164205"/>
            <a:ext cx="22860" cy="4295894"/>
          </a:xfrm>
          <a:prstGeom prst="roundRect">
            <a:avLst>
              <a:gd name="adj" fmla="val 333395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70930" y="3164205"/>
            <a:ext cx="3778210" cy="1190030"/>
          </a:xfrm>
          <a:prstGeom prst="roundRect">
            <a:avLst>
              <a:gd name="adj" fmla="val 6404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645801" y="3353276"/>
            <a:ext cx="2721888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Shahad Ibrahim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960001" y="3802261"/>
            <a:ext cx="34076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202206110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4594860" y="4717137"/>
            <a:ext cx="3778210" cy="1190030"/>
          </a:xfrm>
          <a:prstGeom prst="rect">
            <a:avLst/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776311" y="4906208"/>
            <a:ext cx="2721888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Bushra Salman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4776311" y="5355193"/>
            <a:ext cx="34076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202206470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770930" y="6270069"/>
            <a:ext cx="3778210" cy="1190030"/>
          </a:xfrm>
          <a:prstGeom prst="roundRect">
            <a:avLst>
              <a:gd name="adj" fmla="val 6404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645801" y="6459141"/>
            <a:ext cx="2721888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Radhya Hasan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960001" y="6908125"/>
            <a:ext cx="34076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202210255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5517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234928"/>
            <a:ext cx="5103614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Project Overview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793790" y="4178975"/>
            <a:ext cx="204073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93790" y="4502944"/>
            <a:ext cx="6419374" cy="2286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93790" y="4650700"/>
            <a:ext cx="6419374" cy="1148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Build an ML model to predict whether a patient has diabetes using clinical measurements.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417237" y="4178975"/>
            <a:ext cx="204073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417237" y="4502944"/>
            <a:ext cx="6419374" cy="2286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417237" y="4650700"/>
            <a:ext cx="6419374" cy="1148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Use the Pima Indians Diabetes dataset (Kaggle/UCI): 8 features → predict </a:t>
            </a:r>
            <a:r>
              <a:rPr lang="en-US" sz="2400" b="1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Outcome</a:t>
            </a:r>
            <a:r>
              <a:rPr lang="en-US" sz="2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(0/1).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93790" y="6156127"/>
            <a:ext cx="204073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93790" y="6480096"/>
            <a:ext cx="6419374" cy="2286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93790" y="6627852"/>
            <a:ext cx="6419374" cy="76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Implement a feed‑forward neural network (Keras) with standardized inputs.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7417237" y="6156127"/>
            <a:ext cx="204073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417237" y="6480096"/>
            <a:ext cx="6419374" cy="2286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417237" y="6627852"/>
            <a:ext cx="6419374" cy="76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Evaluate with accuracy, loss curves, and a confusion matrix; report test performance.</a:t>
            </a:r>
            <a:endParaRPr lang="en-US" sz="24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251A20D-0E42-BCB3-9CF3-7650EFCA4E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58750" y="7775452"/>
            <a:ext cx="1771650" cy="4381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0508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Predictive Modeling for Diabetes Risk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46280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technical brief on training a simple neural network for binary classification of diabetes risk using non-invasive physiological data.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3443764"/>
            <a:ext cx="7556421" cy="4080748"/>
          </a:xfrm>
          <a:prstGeom prst="roundRect">
            <a:avLst>
              <a:gd name="adj" fmla="val 2335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801410" y="3451384"/>
            <a:ext cx="3770590" cy="2395657"/>
          </a:xfrm>
          <a:prstGeom prst="roundRect">
            <a:avLst>
              <a:gd name="adj" fmla="val 3977"/>
            </a:avLst>
          </a:prstGeom>
          <a:solidFill>
            <a:srgbClr val="E1E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028224" y="36781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Core Goal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28224" y="4168616"/>
            <a:ext cx="297680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Early identification of diabetes risk from non-invasive clinical measurements.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4572000" y="3451384"/>
            <a:ext cx="3770590" cy="2395657"/>
          </a:xfrm>
          <a:prstGeom prst="rect">
            <a:avLst/>
          </a:prstGeom>
          <a:solidFill>
            <a:srgbClr val="E1E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572000" y="3451384"/>
            <a:ext cx="30480" cy="2395657"/>
          </a:xfrm>
          <a:prstGeom prst="roundRect">
            <a:avLst>
              <a:gd name="adj" fmla="val 312558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138976" y="36781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Objective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5138976" y="4168616"/>
            <a:ext cx="297680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Train an efficient Neural Network (NN) for high-performance binary classification.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4288512" y="4365665"/>
            <a:ext cx="566976" cy="566976"/>
          </a:xfrm>
          <a:prstGeom prst="roundRect">
            <a:avLst>
              <a:gd name="adj" fmla="val 16803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30197" y="4507349"/>
            <a:ext cx="283488" cy="28348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801410" y="5847040"/>
            <a:ext cx="7541181" cy="1669852"/>
          </a:xfrm>
          <a:prstGeom prst="rect">
            <a:avLst/>
          </a:prstGeom>
          <a:solidFill>
            <a:srgbClr val="E1E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01410" y="5847040"/>
            <a:ext cx="7541181" cy="30480"/>
          </a:xfrm>
          <a:prstGeom prst="roundRect">
            <a:avLst>
              <a:gd name="adj" fmla="val 312558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1028224" y="60738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Actionable Insights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1028224" y="6564273"/>
            <a:ext cx="67473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Evaluate results using robust metrics and provide practical, data-driven conclusions.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71751"/>
            <a:ext cx="8282464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Step 1: Problem Framing and Input Data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1601629"/>
            <a:ext cx="130428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2164080"/>
            <a:ext cx="13042821" cy="56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 utilized the Pima Indians Diabetes Dataset, focusing on a set of non-invasive measurements as input features and predicting a binary outcome.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2803565"/>
            <a:ext cx="2721888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u="sng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Input Features (X)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93790" y="3415903"/>
            <a:ext cx="6430685" cy="1925836"/>
          </a:xfrm>
          <a:prstGeom prst="roundRect">
            <a:avLst>
              <a:gd name="adj" fmla="val 3957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16650" y="3438763"/>
            <a:ext cx="6384965" cy="544354"/>
          </a:xfrm>
          <a:prstGeom prst="roundRect">
            <a:avLst>
              <a:gd name="adj" fmla="val 8961"/>
            </a:avLst>
          </a:prstGeom>
          <a:solidFill>
            <a:srgbClr val="E1E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872984" y="3536990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98101" y="4164568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Physiological Data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998101" y="4556879"/>
            <a:ext cx="6022062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Pregnancies, BloodPressure, SkinThickness, Insulin, BMI (Body Mass Index).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05926" y="3415903"/>
            <a:ext cx="6430685" cy="1925836"/>
          </a:xfrm>
          <a:prstGeom prst="roundRect">
            <a:avLst>
              <a:gd name="adj" fmla="val 3957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428786" y="3438763"/>
            <a:ext cx="6384965" cy="544354"/>
          </a:xfrm>
          <a:prstGeom prst="roundRect">
            <a:avLst>
              <a:gd name="adj" fmla="val 8961"/>
            </a:avLst>
          </a:prstGeom>
          <a:solidFill>
            <a:srgbClr val="E1E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485120" y="3536990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610237" y="4164568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Metabolic Indicators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610237" y="4556879"/>
            <a:ext cx="6022062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Glucose Concentration (plasma), DiabetesPedigreeFunction (genetic risk score).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93790" y="5523190"/>
            <a:ext cx="6430685" cy="2034659"/>
          </a:xfrm>
          <a:prstGeom prst="roundRect">
            <a:avLst>
              <a:gd name="adj" fmla="val 3746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16650" y="5546050"/>
            <a:ext cx="6384965" cy="544354"/>
          </a:xfrm>
          <a:prstGeom prst="roundRect">
            <a:avLst>
              <a:gd name="adj" fmla="val 8961"/>
            </a:avLst>
          </a:prstGeom>
          <a:solidFill>
            <a:srgbClr val="E1E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872984" y="5644277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98101" y="6271855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Demographic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998101" y="6664166"/>
            <a:ext cx="602206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 of the patient.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405926" y="5523190"/>
            <a:ext cx="6430685" cy="2034659"/>
          </a:xfrm>
          <a:prstGeom prst="roundRect">
            <a:avLst>
              <a:gd name="adj" fmla="val 3746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428786" y="5546050"/>
            <a:ext cx="6384965" cy="544354"/>
          </a:xfrm>
          <a:prstGeom prst="roundRect">
            <a:avLst>
              <a:gd name="adj" fmla="val 8961"/>
            </a:avLst>
          </a:prstGeom>
          <a:solidFill>
            <a:srgbClr val="E1E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485120" y="5644277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7610237" y="6271855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Outcome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7610237" y="6664166"/>
            <a:ext cx="602206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= Diabetic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610237" y="7063264"/>
            <a:ext cx="602206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</a:t>
            </a: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= Non-Diabetic</a:t>
            </a:r>
            <a:endParaRPr lang="en-US" sz="14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8C419FB-446B-A243-123B-B83E5144C6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8750" y="7775452"/>
            <a:ext cx="1771650" cy="4381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030724"/>
            <a:ext cx="7556421" cy="1204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Step 1: Defining the Prediction Task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6280190" y="2524839"/>
            <a:ext cx="7556421" cy="1717953"/>
          </a:xfrm>
          <a:prstGeom prst="roundRect">
            <a:avLst>
              <a:gd name="adj" fmla="val 4714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7440" y="2432090"/>
            <a:ext cx="231338" cy="231338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98022" y="4104203"/>
            <a:ext cx="231338" cy="231338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592253" y="2836902"/>
            <a:ext cx="4794766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Prediction Task: Binary Classification</a:t>
            </a:r>
            <a:endParaRPr lang="en-US" sz="2250" dirty="0"/>
          </a:p>
        </p:txBody>
      </p:sp>
      <p:sp>
        <p:nvSpPr>
          <p:cNvPr id="8" name="Text 3"/>
          <p:cNvSpPr/>
          <p:nvPr/>
        </p:nvSpPr>
        <p:spPr>
          <a:xfrm>
            <a:off x="6592253" y="3313986"/>
            <a:ext cx="6932295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model's goal is to predict one of two mutually exclusive classes: diabetic or non-diabetic.</a:t>
            </a:r>
            <a:endParaRPr lang="en-US" sz="1500" dirty="0"/>
          </a:p>
        </p:txBody>
      </p:sp>
      <p:sp>
        <p:nvSpPr>
          <p:cNvPr id="9" name="Text 4"/>
          <p:cNvSpPr/>
          <p:nvPr/>
        </p:nvSpPr>
        <p:spPr>
          <a:xfrm>
            <a:off x="6280190" y="4652367"/>
            <a:ext cx="2898815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Why Binary Classification?</a:t>
            </a: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6280190" y="5146357"/>
            <a:ext cx="3543062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target variable (Outcome) has exactly two possible categories.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6280190" y="5830491"/>
            <a:ext cx="3543062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Requires a </a:t>
            </a:r>
            <a:r>
              <a:rPr lang="en-US" sz="150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Sigmoid activation</a:t>
            </a: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function on the final output layer.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6280190" y="6514624"/>
            <a:ext cx="3543062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appropriate loss function is </a:t>
            </a:r>
            <a:r>
              <a:rPr lang="en-US" sz="150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Binary Crossentropy</a:t>
            </a: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10301168" y="4652367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it is NOT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10301168" y="5146357"/>
            <a:ext cx="3543062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 Multi-class (more than two distinct outcomes).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0301168" y="5830491"/>
            <a:ext cx="3543062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 Regression (predicting a continuous value).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10301168" y="6514624"/>
            <a:ext cx="3543062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 Clustering (unsupervised grouping).</a:t>
            </a:r>
            <a:endParaRPr lang="en-US" sz="15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EE9BEBF-5BBF-772B-121E-04881A64BE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58750" y="7775452"/>
            <a:ext cx="1771650" cy="4381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18395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2361" y="2463165"/>
            <a:ext cx="8335208" cy="459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Dataset Summary: Pima Indians Diabetes Dataset</a:t>
            </a:r>
            <a:endParaRPr lang="en-US" sz="2850" dirty="0"/>
          </a:p>
        </p:txBody>
      </p:sp>
      <p:sp>
        <p:nvSpPr>
          <p:cNvPr id="4" name="Shape 1"/>
          <p:cNvSpPr/>
          <p:nvPr/>
        </p:nvSpPr>
        <p:spPr>
          <a:xfrm>
            <a:off x="792361" y="3143726"/>
            <a:ext cx="13045678" cy="1247894"/>
          </a:xfrm>
          <a:prstGeom prst="roundRect">
            <a:avLst>
              <a:gd name="adj" fmla="val 4953"/>
            </a:avLst>
          </a:prstGeom>
          <a:solidFill>
            <a:srgbClr val="FFFFFF">
              <a:alpha val="95000"/>
            </a:srgbClr>
          </a:solidFill>
          <a:ln w="1524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807601" y="3158966"/>
            <a:ext cx="588645" cy="1217414"/>
          </a:xfrm>
          <a:prstGeom prst="roundRect">
            <a:avLst>
              <a:gd name="adj" fmla="val 7394"/>
            </a:avLst>
          </a:prstGeom>
          <a:solidFill>
            <a:srgbClr val="E1E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87742" y="3629739"/>
            <a:ext cx="220742" cy="275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543407" y="3306128"/>
            <a:ext cx="2207419" cy="275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Dataset &amp; Source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543407" y="3670221"/>
            <a:ext cx="12132231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standard benchmark dataset often used for introductory machine learning classification tasks.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543407" y="3993833"/>
            <a:ext cx="12132231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Source:</a:t>
            </a: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Kaggle / UCI Machine Learning Repository.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92361" y="4538782"/>
            <a:ext cx="13045678" cy="924282"/>
          </a:xfrm>
          <a:prstGeom prst="roundRect">
            <a:avLst>
              <a:gd name="adj" fmla="val 6687"/>
            </a:avLst>
          </a:prstGeom>
          <a:solidFill>
            <a:srgbClr val="FFFFFF">
              <a:alpha val="95000"/>
            </a:srgbClr>
          </a:solidFill>
          <a:ln w="1524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07601" y="4554022"/>
            <a:ext cx="588645" cy="893802"/>
          </a:xfrm>
          <a:prstGeom prst="roundRect">
            <a:avLst>
              <a:gd name="adj" fmla="val 7394"/>
            </a:avLst>
          </a:prstGeom>
          <a:solidFill>
            <a:srgbClr val="E1E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87742" y="4862989"/>
            <a:ext cx="220742" cy="275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1543407" y="4701183"/>
            <a:ext cx="2512338" cy="275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Volume &amp; Structure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1543407" y="5065276"/>
            <a:ext cx="12132231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total of </a:t>
            </a:r>
            <a:r>
              <a:rPr lang="en-US" sz="11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768 records</a:t>
            </a: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available, each featuring 8 continuous/numeric input features and 1 binary output label.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92361" y="5610225"/>
            <a:ext cx="13045678" cy="924282"/>
          </a:xfrm>
          <a:prstGeom prst="roundRect">
            <a:avLst>
              <a:gd name="adj" fmla="val 6687"/>
            </a:avLst>
          </a:prstGeom>
          <a:solidFill>
            <a:srgbClr val="FFFFFF">
              <a:alpha val="95000"/>
            </a:srgbClr>
          </a:solidFill>
          <a:ln w="1524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07601" y="5625465"/>
            <a:ext cx="588645" cy="893802"/>
          </a:xfrm>
          <a:prstGeom prst="roundRect">
            <a:avLst>
              <a:gd name="adj" fmla="val 7394"/>
            </a:avLst>
          </a:prstGeom>
          <a:solidFill>
            <a:srgbClr val="E1E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987742" y="5934432"/>
            <a:ext cx="220742" cy="275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1543407" y="5772626"/>
            <a:ext cx="2207419" cy="275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Class Balance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1543407" y="6136719"/>
            <a:ext cx="12132231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dataset is </a:t>
            </a:r>
            <a:r>
              <a:rPr lang="en-US" sz="11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mildly imbalanced</a:t>
            </a: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(approx. 65% non-diabetic, 35% diabetic). This necessitates careful metric selection (beyond simple accuracy).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792361" y="6681668"/>
            <a:ext cx="13045678" cy="924282"/>
          </a:xfrm>
          <a:prstGeom prst="roundRect">
            <a:avLst>
              <a:gd name="adj" fmla="val 6687"/>
            </a:avLst>
          </a:prstGeom>
          <a:solidFill>
            <a:srgbClr val="FFFFFF">
              <a:alpha val="95000"/>
            </a:srgbClr>
          </a:solidFill>
          <a:ln w="1524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807601" y="6696908"/>
            <a:ext cx="588645" cy="893802"/>
          </a:xfrm>
          <a:prstGeom prst="roundRect">
            <a:avLst>
              <a:gd name="adj" fmla="val 7394"/>
            </a:avLst>
          </a:prstGeom>
          <a:solidFill>
            <a:srgbClr val="E1E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987742" y="7005876"/>
            <a:ext cx="220742" cy="275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1543407" y="6844070"/>
            <a:ext cx="2207419" cy="275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Train/Test Split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1543407" y="7208163"/>
            <a:ext cx="12132231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stratified </a:t>
            </a:r>
            <a:r>
              <a:rPr lang="en-US" sz="11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80% Train / 20% Test</a:t>
            </a: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split was applied (using random_state=42) to ensure both sets maintain the original class proportion.</a:t>
            </a:r>
            <a:endParaRPr lang="en-US" sz="115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0C9A3F6-BBB9-391E-440C-C36DBDB9DE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58750" y="7775452"/>
            <a:ext cx="1771650" cy="4381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68906"/>
            <a:ext cx="7556421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Critical Step: Data Preparation and Preprocessing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6280190" y="2087285"/>
            <a:ext cx="7556421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 ensure robust model training and prevent feature dominance due to scale differences, standardization was essential.</a:t>
            </a:r>
            <a:endParaRPr lang="en-US" sz="13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2822972"/>
            <a:ext cx="510302" cy="1143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960513" y="2992993"/>
            <a:ext cx="3211354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Feature/Label Segregation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6960513" y="3413879"/>
            <a:ext cx="6876098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X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assigned to the 8 input features; </a:t>
            </a:r>
            <a:r>
              <a:rPr lang="en-US" sz="13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assigned to the binary Outcome label.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5341" y="4026098"/>
            <a:ext cx="510302" cy="11430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215664" y="4196120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Standardization</a:t>
            </a:r>
            <a:endParaRPr lang="en-US" sz="2000" dirty="0"/>
          </a:p>
        </p:txBody>
      </p:sp>
      <p:sp>
        <p:nvSpPr>
          <p:cNvPr id="10" name="Text 5"/>
          <p:cNvSpPr/>
          <p:nvPr/>
        </p:nvSpPr>
        <p:spPr>
          <a:xfrm>
            <a:off x="7215664" y="4617006"/>
            <a:ext cx="6620947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Applied </a:t>
            </a:r>
            <a:r>
              <a:rPr lang="en-US" sz="13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StandardScaler()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normalize all features, ensuring mean = 0 and standard deviation = 1 across the training set.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7215664" y="5263396"/>
            <a:ext cx="6620947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scaler was </a:t>
            </a:r>
            <a:r>
              <a:rPr lang="en-US" sz="130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fit only on the training data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then used to transform both train and test sets.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0492" y="6147792"/>
            <a:ext cx="510302" cy="11430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70815" y="6317813"/>
            <a:ext cx="2688312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Internal Validation Split</a:t>
            </a:r>
            <a:endParaRPr lang="en-US" sz="2000" dirty="0"/>
          </a:p>
        </p:txBody>
      </p:sp>
      <p:sp>
        <p:nvSpPr>
          <p:cNvPr id="14" name="Text 8"/>
          <p:cNvSpPr/>
          <p:nvPr/>
        </p:nvSpPr>
        <p:spPr>
          <a:xfrm>
            <a:off x="7470815" y="6738699"/>
            <a:ext cx="6365796" cy="551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</a:t>
            </a:r>
            <a:r>
              <a:rPr lang="en-US" sz="13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20% validation split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was dynamically reserved from the training data during the </a:t>
            </a:r>
            <a:r>
              <a:rPr lang="en-US" sz="13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model.fit()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process for monitoring loss and preventing overfitting during training.</a:t>
            </a:r>
            <a:endParaRPr lang="en-US" sz="13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98E6CA6-3F8E-3A25-9CB7-CDB1BD1D74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58750" y="7775452"/>
            <a:ext cx="1771650" cy="4381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7488" y="1681639"/>
            <a:ext cx="4919305" cy="486620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3790" y="139326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 Architecture </a:t>
            </a:r>
            <a:endParaRPr lang="en-US" sz="4450" dirty="0"/>
          </a:p>
        </p:txBody>
      </p:sp>
      <p:sp>
        <p:nvSpPr>
          <p:cNvPr id="5" name="Text 1"/>
          <p:cNvSpPr/>
          <p:nvPr/>
        </p:nvSpPr>
        <p:spPr>
          <a:xfrm>
            <a:off x="793790" y="219277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(Keras Sequential)</a:t>
            </a:r>
            <a:endParaRPr lang="en-US" sz="4450" dirty="0"/>
          </a:p>
        </p:txBody>
      </p:sp>
      <p:sp>
        <p:nvSpPr>
          <p:cNvPr id="6" name="Shape 2"/>
          <p:cNvSpPr/>
          <p:nvPr/>
        </p:nvSpPr>
        <p:spPr>
          <a:xfrm>
            <a:off x="793790" y="3241715"/>
            <a:ext cx="7556421" cy="3594616"/>
          </a:xfrm>
          <a:prstGeom prst="roundRect">
            <a:avLst>
              <a:gd name="adj" fmla="val 2650"/>
            </a:avLst>
          </a:prstGeom>
          <a:solidFill>
            <a:srgbClr val="D2D2E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604" y="3585805"/>
            <a:ext cx="283488" cy="22681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530906" y="3525203"/>
            <a:ext cx="65924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Input:</a:t>
            </a: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shape = (8).</a:t>
            </a:r>
            <a:endParaRPr lang="en-US" sz="1750" dirty="0"/>
          </a:p>
        </p:txBody>
      </p:sp>
      <p:sp>
        <p:nvSpPr>
          <p:cNvPr id="9" name="Text 4"/>
          <p:cNvSpPr/>
          <p:nvPr/>
        </p:nvSpPr>
        <p:spPr>
          <a:xfrm>
            <a:off x="1530906" y="4092178"/>
            <a:ext cx="65924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Hidden Layer 1:</a:t>
            </a: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Dense(16), activation = ReLU.</a:t>
            </a:r>
            <a:endParaRPr lang="en-US" sz="1750" dirty="0"/>
          </a:p>
        </p:txBody>
      </p:sp>
      <p:sp>
        <p:nvSpPr>
          <p:cNvPr id="10" name="Text 5"/>
          <p:cNvSpPr/>
          <p:nvPr/>
        </p:nvSpPr>
        <p:spPr>
          <a:xfrm>
            <a:off x="1530906" y="4659154"/>
            <a:ext cx="65924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Hidden Layer 2:</a:t>
            </a: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Dense(8), activation = ReLU.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1530906" y="5226129"/>
            <a:ext cx="65924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Output:</a:t>
            </a: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Dense(1), activation = Sigmoid (probability of diabetes).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1530906" y="5793105"/>
            <a:ext cx="65924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 summary:</a:t>
            </a: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Provided in notebook; includes parameter counts.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2361" y="623649"/>
            <a:ext cx="9911834" cy="565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 Configuration: Loss Function &amp; Optimizer</a:t>
            </a:r>
            <a:endParaRPr lang="en-US" sz="3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79" y="1669852"/>
            <a:ext cx="3178612" cy="2173486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7590" y="1669852"/>
            <a:ext cx="3178612" cy="2173486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792361" y="4368879"/>
            <a:ext cx="6301978" cy="2250281"/>
          </a:xfrm>
          <a:prstGeom prst="roundRect">
            <a:avLst>
              <a:gd name="adj" fmla="val 4876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2"/>
          <p:cNvSpPr/>
          <p:nvPr/>
        </p:nvSpPr>
        <p:spPr>
          <a:xfrm>
            <a:off x="769501" y="4368879"/>
            <a:ext cx="91440" cy="2250281"/>
          </a:xfrm>
          <a:prstGeom prst="roundRect">
            <a:avLst>
              <a:gd name="adj" fmla="val 83195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1064895" y="4572833"/>
            <a:ext cx="4380667" cy="339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Loss Function: Binary Crossentropy</a:t>
            </a:r>
            <a:endParaRPr lang="en-US" sz="2100" dirty="0"/>
          </a:p>
        </p:txBody>
      </p:sp>
      <p:sp>
        <p:nvSpPr>
          <p:cNvPr id="8" name="Text 4"/>
          <p:cNvSpPr/>
          <p:nvPr/>
        </p:nvSpPr>
        <p:spPr>
          <a:xfrm>
            <a:off x="1064895" y="5093494"/>
            <a:ext cx="5825490" cy="579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Measures the performance of a classification model whose output is a probability value between 0 and 1.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064895" y="5835848"/>
            <a:ext cx="5825490" cy="579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 penalizes divergence from the true binary labels (0 or 1), making it ideal for our task.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7543681" y="4368879"/>
            <a:ext cx="6301978" cy="2539960"/>
          </a:xfrm>
          <a:prstGeom prst="roundRect">
            <a:avLst>
              <a:gd name="adj" fmla="val 4320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7520821" y="4368879"/>
            <a:ext cx="91440" cy="2539960"/>
          </a:xfrm>
          <a:prstGeom prst="roundRect">
            <a:avLst>
              <a:gd name="adj" fmla="val 83195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7816215" y="4572833"/>
            <a:ext cx="2716887" cy="339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Optimizer: Adam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7816215" y="5093494"/>
            <a:ext cx="5825490" cy="869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Chosen for its efficiency and adaptability. Adam combines the benefits of both AdaGrad and RMSProp, maintaining per-parameter learning rates.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816215" y="6125527"/>
            <a:ext cx="5825490" cy="579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 is a robust and strong default choice for deep learning classification problems.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792361" y="7316272"/>
            <a:ext cx="13045678" cy="28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primary metric monitored during the training loop was </a:t>
            </a:r>
            <a:r>
              <a:rPr lang="en-US" sz="14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Accuracy</a:t>
            </a: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track the proportion of correct predictions.</a:t>
            </a:r>
            <a:endParaRPr lang="en-US" sz="14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8D996E9-D779-9FDA-3414-4B14300F34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55880" y="7791450"/>
            <a:ext cx="1771650" cy="4381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97719"/>
            <a:ext cx="7556421" cy="1275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Hyperparameters and Training Process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793790" y="2481739"/>
            <a:ext cx="2348627" cy="673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300"/>
              </a:lnSpc>
              <a:buNone/>
            </a:pPr>
            <a:r>
              <a:rPr lang="en-US" sz="5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</a:t>
            </a:r>
            <a:endParaRPr lang="en-US" sz="5300" dirty="0"/>
          </a:p>
        </p:txBody>
      </p:sp>
      <p:sp>
        <p:nvSpPr>
          <p:cNvPr id="5" name="Text 2"/>
          <p:cNvSpPr/>
          <p:nvPr/>
        </p:nvSpPr>
        <p:spPr>
          <a:xfrm>
            <a:off x="793790" y="3410426"/>
            <a:ext cx="2348627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Epochs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93790" y="3851672"/>
            <a:ext cx="2348627" cy="1633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Total passes over the entire training dataset. Balanced to ensure convergence without excessive training time.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397568" y="2481739"/>
            <a:ext cx="2348746" cy="673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300"/>
              </a:lnSpc>
              <a:buNone/>
            </a:pPr>
            <a:r>
              <a:rPr lang="en-US" sz="5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</a:t>
            </a:r>
            <a:endParaRPr lang="en-US" sz="5300" dirty="0"/>
          </a:p>
        </p:txBody>
      </p:sp>
      <p:sp>
        <p:nvSpPr>
          <p:cNvPr id="8" name="Text 5"/>
          <p:cNvSpPr/>
          <p:nvPr/>
        </p:nvSpPr>
        <p:spPr>
          <a:xfrm>
            <a:off x="3397568" y="3410426"/>
            <a:ext cx="2348746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Batch Size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3397568" y="3851672"/>
            <a:ext cx="2348746" cy="130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Number of samples processed before the model's internal parameters are updated.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001464" y="2481739"/>
            <a:ext cx="2348746" cy="673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300"/>
              </a:lnSpc>
              <a:buNone/>
            </a:pPr>
            <a:r>
              <a:rPr lang="en-US" sz="5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0.2</a:t>
            </a:r>
            <a:endParaRPr lang="en-US" sz="5300" dirty="0"/>
          </a:p>
        </p:txBody>
      </p:sp>
      <p:sp>
        <p:nvSpPr>
          <p:cNvPr id="11" name="Text 8"/>
          <p:cNvSpPr/>
          <p:nvPr/>
        </p:nvSpPr>
        <p:spPr>
          <a:xfrm>
            <a:off x="6001464" y="3410426"/>
            <a:ext cx="2348746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Validation Split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001464" y="3851672"/>
            <a:ext cx="2348746" cy="1633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Fraction of the training data used for internal validation, providing an early gauge of generalization.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93790" y="5714762"/>
            <a:ext cx="7556421" cy="1717119"/>
          </a:xfrm>
          <a:prstGeom prst="roundRect">
            <a:avLst>
              <a:gd name="adj" fmla="val 4993"/>
            </a:avLst>
          </a:prstGeom>
          <a:solidFill>
            <a:srgbClr val="D2D2E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863" y="5990273"/>
            <a:ext cx="318968" cy="25515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520904" y="5969794"/>
            <a:ext cx="3603665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Note on Advanced Techniques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1520904" y="6492716"/>
            <a:ext cx="6625233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Callbacks such as EarlyStopping and LearningRateScheduler were intentionally omitted for this initial simple model.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49260"/>
            <a:ext cx="75564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Evaluation Strategy: The Hold-Out Test Set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793790" y="2155388"/>
            <a:ext cx="7556421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Final model performance was assessed exclusively on the 20% hold-out test set, ensuring an unbiased measure of generalization.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793790" y="2940010"/>
            <a:ext cx="725805" cy="1392436"/>
          </a:xfrm>
          <a:prstGeom prst="roundRect">
            <a:avLst>
              <a:gd name="adj" fmla="val 36002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020604" y="3466148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701046" y="3121462"/>
            <a:ext cx="2721888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Test Set Integrity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701046" y="3570446"/>
            <a:ext cx="6649164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20% hold-out was never seen during training and was standardized using the scaler </a:t>
            </a:r>
            <a:r>
              <a:rPr lang="en-US" sz="140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fitted on the training data</a:t>
            </a: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93790" y="4513898"/>
            <a:ext cx="725805" cy="1392436"/>
          </a:xfrm>
          <a:prstGeom prst="roundRect">
            <a:avLst>
              <a:gd name="adj" fmla="val 36002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020604" y="5040035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1701046" y="4695349"/>
            <a:ext cx="2721888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Reported Metrics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701046" y="5144333"/>
            <a:ext cx="6649164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Primary measures: </a:t>
            </a:r>
            <a:r>
              <a:rPr lang="en-US" sz="14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 Accuracy</a:t>
            </a: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(≈ 0.82) and </a:t>
            </a:r>
            <a:r>
              <a:rPr lang="en-US" sz="14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 Loss</a:t>
            </a: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(Binary Crossentropy value).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93790" y="6087785"/>
            <a:ext cx="725805" cy="1392436"/>
          </a:xfrm>
          <a:prstGeom prst="roundRect">
            <a:avLst>
              <a:gd name="adj" fmla="val 36002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20604" y="6613922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1701046" y="6269236"/>
            <a:ext cx="2721888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Diagnostic Tools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1701046" y="6718221"/>
            <a:ext cx="6649164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detailed </a:t>
            </a:r>
            <a:r>
              <a:rPr lang="en-US" sz="14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Confusion Matrix</a:t>
            </a: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was generated to visualize prediction outcomes, including False Positives (FP) and False Negatives (FN).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4090" y="2327910"/>
            <a:ext cx="4046220" cy="35737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3790" y="2960965"/>
            <a:ext cx="658665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Results: Learning Curves </a:t>
            </a:r>
            <a:endParaRPr lang="en-US" sz="4450" dirty="0"/>
          </a:p>
        </p:txBody>
      </p:sp>
      <p:sp>
        <p:nvSpPr>
          <p:cNvPr id="5" name="Text 1"/>
          <p:cNvSpPr/>
          <p:nvPr/>
        </p:nvSpPr>
        <p:spPr>
          <a:xfrm>
            <a:off x="793790" y="3760470"/>
            <a:ext cx="577131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(Training vs Validation)</a:t>
            </a:r>
            <a:endParaRPr lang="en-US" sz="4450" dirty="0"/>
          </a:p>
        </p:txBody>
      </p:sp>
      <p:sp>
        <p:nvSpPr>
          <p:cNvPr id="6" name="Text 2"/>
          <p:cNvSpPr/>
          <p:nvPr/>
        </p:nvSpPr>
        <p:spPr>
          <a:xfrm>
            <a:off x="793790" y="4559975"/>
            <a:ext cx="755642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Observation:</a:t>
            </a: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Both trends improve and stabilize; limited overfitting.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3620" y="2339340"/>
            <a:ext cx="3947160" cy="35509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3790" y="2960965"/>
            <a:ext cx="658665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Results: Learning Curves </a:t>
            </a:r>
            <a:endParaRPr lang="en-US" sz="4450" dirty="0"/>
          </a:p>
        </p:txBody>
      </p:sp>
      <p:sp>
        <p:nvSpPr>
          <p:cNvPr id="5" name="Text 1"/>
          <p:cNvSpPr/>
          <p:nvPr/>
        </p:nvSpPr>
        <p:spPr>
          <a:xfrm>
            <a:off x="793790" y="3760470"/>
            <a:ext cx="577131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(Training vs Validation)</a:t>
            </a:r>
            <a:endParaRPr lang="en-US" sz="4450" dirty="0"/>
          </a:p>
        </p:txBody>
      </p:sp>
      <p:sp>
        <p:nvSpPr>
          <p:cNvPr id="6" name="Text 2"/>
          <p:cNvSpPr/>
          <p:nvPr/>
        </p:nvSpPr>
        <p:spPr>
          <a:xfrm>
            <a:off x="793790" y="4559975"/>
            <a:ext cx="755642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Observation:</a:t>
            </a: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Training and validation loss decrease; convergence achieved.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210" y="2381250"/>
            <a:ext cx="4411980" cy="34671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280190" y="986076"/>
            <a:ext cx="7556421" cy="1204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Results: Performance Metrics &amp; Diagnostics</a:t>
            </a:r>
            <a:endParaRPr lang="en-US" sz="3750" dirty="0"/>
          </a:p>
        </p:txBody>
      </p:sp>
      <p:sp>
        <p:nvSpPr>
          <p:cNvPr id="5" name="Text 1"/>
          <p:cNvSpPr/>
          <p:nvPr/>
        </p:nvSpPr>
        <p:spPr>
          <a:xfrm>
            <a:off x="6869430" y="3100388"/>
            <a:ext cx="1179433" cy="293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82%</a:t>
            </a:r>
            <a:endParaRPr lang="en-US" sz="23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0009" y="2528292"/>
            <a:ext cx="1438394" cy="1438394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280190" y="4207550"/>
            <a:ext cx="2358152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 Accuracy</a:t>
            </a:r>
            <a:endParaRPr lang="en-US" sz="1500" dirty="0"/>
          </a:p>
        </p:txBody>
      </p:sp>
      <p:sp>
        <p:nvSpPr>
          <p:cNvPr id="8" name="Text 3"/>
          <p:cNvSpPr/>
          <p:nvPr/>
        </p:nvSpPr>
        <p:spPr>
          <a:xfrm>
            <a:off x="9468564" y="3100388"/>
            <a:ext cx="1179433" cy="293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18%</a:t>
            </a:r>
            <a:endParaRPr lang="en-US" sz="23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9143" y="2528292"/>
            <a:ext cx="1438394" cy="1438394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879324" y="4207550"/>
            <a:ext cx="2358152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Overall Error Rate</a:t>
            </a:r>
            <a:endParaRPr lang="en-US" sz="1500" dirty="0"/>
          </a:p>
        </p:txBody>
      </p:sp>
      <p:sp>
        <p:nvSpPr>
          <p:cNvPr id="11" name="Text 5"/>
          <p:cNvSpPr/>
          <p:nvPr/>
        </p:nvSpPr>
        <p:spPr>
          <a:xfrm>
            <a:off x="12067699" y="3100388"/>
            <a:ext cx="1179433" cy="293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1/3</a:t>
            </a:r>
            <a:endParaRPr lang="en-US" sz="23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938278" y="2528292"/>
            <a:ext cx="1438394" cy="1438394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1478458" y="4207550"/>
            <a:ext cx="2358152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Diabetic Class Proportion</a:t>
            </a:r>
            <a:endParaRPr lang="en-US" sz="1500" dirty="0"/>
          </a:p>
        </p:txBody>
      </p:sp>
      <p:sp>
        <p:nvSpPr>
          <p:cNvPr id="14" name="Text 7"/>
          <p:cNvSpPr/>
          <p:nvPr/>
        </p:nvSpPr>
        <p:spPr>
          <a:xfrm>
            <a:off x="6280190" y="4805124"/>
            <a:ext cx="7123390" cy="481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Confusion Matrix for Diabetes Prediction</a:t>
            </a:r>
            <a:endParaRPr lang="en-US" sz="3000" dirty="0"/>
          </a:p>
        </p:txBody>
      </p:sp>
      <p:sp>
        <p:nvSpPr>
          <p:cNvPr id="15" name="Text 8"/>
          <p:cNvSpPr/>
          <p:nvPr/>
        </p:nvSpPr>
        <p:spPr>
          <a:xfrm>
            <a:off x="6569393" y="5793105"/>
            <a:ext cx="7267218" cy="12334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Interpretation: The model demonstrated balanced performance. The presence of False Negatives (actual diabetic patients predicted non-diabetic) suggests potential trade-offs. Future work should focus on threshold tuning to optimize the critical metrics of </a:t>
            </a:r>
            <a:r>
              <a:rPr lang="en-US" sz="15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Sensitivity</a:t>
            </a: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(Recall) and </a:t>
            </a:r>
            <a:r>
              <a:rPr lang="en-US" sz="15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Specificity</a:t>
            </a: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500" dirty="0"/>
          </a:p>
        </p:txBody>
      </p:sp>
      <p:sp>
        <p:nvSpPr>
          <p:cNvPr id="16" name="Shape 9"/>
          <p:cNvSpPr/>
          <p:nvPr/>
        </p:nvSpPr>
        <p:spPr>
          <a:xfrm>
            <a:off x="6280190" y="5576292"/>
            <a:ext cx="22860" cy="1667113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62CDDBD-3367-B397-A7FF-0155417666E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858750" y="7728297"/>
            <a:ext cx="1771650" cy="4381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52237"/>
            <a:ext cx="7266861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Conclusions and Future Work Roadmap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793790" y="1804035"/>
            <a:ext cx="6441996" cy="1479471"/>
          </a:xfrm>
          <a:prstGeom prst="roundRect">
            <a:avLst>
              <a:gd name="adj" fmla="val 7417"/>
            </a:avLst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3790" y="1781175"/>
            <a:ext cx="6441996" cy="91440"/>
          </a:xfrm>
          <a:prstGeom prst="roundRect">
            <a:avLst>
              <a:gd name="adj" fmla="val 72930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776662" y="1565910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667119" y="2200870"/>
            <a:ext cx="269533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Successful Classification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975360" y="2593777"/>
            <a:ext cx="6078855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 successfully built a small NN that achieved approximately </a:t>
            </a:r>
            <a:r>
              <a:rPr lang="en-US" sz="12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82% test accuracy</a:t>
            </a: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diabetes risk prediction, validating the architecture.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94496" y="1804035"/>
            <a:ext cx="6442115" cy="1479471"/>
          </a:xfrm>
          <a:prstGeom prst="roundRect">
            <a:avLst>
              <a:gd name="adj" fmla="val 7417"/>
            </a:avLst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94496" y="1781175"/>
            <a:ext cx="6442115" cy="91440"/>
          </a:xfrm>
          <a:prstGeom prst="roundRect">
            <a:avLst>
              <a:gd name="adj" fmla="val 72930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377368" y="1565910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060418" y="2200870"/>
            <a:ext cx="3110151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Learning: Preprocessing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7576066" y="2593777"/>
            <a:ext cx="6078974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Feature standardization was critical for training stability. Evaluation metrics beyond accuracy (e.g., Confusion Matrix analysis) are vital, especially in medical contexts.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93790" y="3521631"/>
            <a:ext cx="5907524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Roadmap: Enhancing Model Robustness</a:t>
            </a:r>
            <a:endParaRPr lang="en-US" sz="2500" dirty="0"/>
          </a:p>
        </p:txBody>
      </p:sp>
      <p:sp>
        <p:nvSpPr>
          <p:cNvPr id="14" name="Shape 12"/>
          <p:cNvSpPr/>
          <p:nvPr/>
        </p:nvSpPr>
        <p:spPr>
          <a:xfrm>
            <a:off x="793790" y="5816918"/>
            <a:ext cx="13042821" cy="22860"/>
          </a:xfrm>
          <a:prstGeom prst="roundRect">
            <a:avLst>
              <a:gd name="adj" fmla="val 291721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331369" y="5340668"/>
            <a:ext cx="22860" cy="476250"/>
          </a:xfrm>
          <a:prstGeom prst="roundRect">
            <a:avLst>
              <a:gd name="adj" fmla="val 291721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83268" y="5757386"/>
            <a:ext cx="119063" cy="119063"/>
          </a:xfrm>
          <a:prstGeom prst="roundRect">
            <a:avLst>
              <a:gd name="adj" fmla="val 383998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93790" y="4156591"/>
            <a:ext cx="5098018" cy="1184077"/>
          </a:xfrm>
          <a:prstGeom prst="roundRect">
            <a:avLst>
              <a:gd name="adj" fmla="val 5632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350413" y="4322921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Cleanup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960120" y="4666178"/>
            <a:ext cx="4765358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Address zero values in columns like Blood Pressure or BMI, which often represent missing data.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979557" y="5816918"/>
            <a:ext cx="22860" cy="476250"/>
          </a:xfrm>
          <a:prstGeom prst="roundRect">
            <a:avLst>
              <a:gd name="adj" fmla="val 291721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931456" y="5757386"/>
            <a:ext cx="119063" cy="119063"/>
          </a:xfrm>
          <a:prstGeom prst="roundRect">
            <a:avLst>
              <a:gd name="adj" fmla="val 383998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441978" y="6293167"/>
            <a:ext cx="5098137" cy="1184077"/>
          </a:xfrm>
          <a:prstGeom prst="roundRect">
            <a:avLst>
              <a:gd name="adj" fmla="val 5632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98720" y="6459498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Imbalance Handling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3608308" y="6802755"/>
            <a:ext cx="4765477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 techniques (e.g., SMOTE, class weighting) to mitigate the dataset's mild class imbalance.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627745" y="5340668"/>
            <a:ext cx="22860" cy="476250"/>
          </a:xfrm>
          <a:prstGeom prst="roundRect">
            <a:avLst>
              <a:gd name="adj" fmla="val 291721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579644" y="5757386"/>
            <a:ext cx="119063" cy="119063"/>
          </a:xfrm>
          <a:prstGeom prst="roundRect">
            <a:avLst>
              <a:gd name="adj" fmla="val 383998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090166" y="4156591"/>
            <a:ext cx="5098137" cy="1184077"/>
          </a:xfrm>
          <a:prstGeom prst="roundRect">
            <a:avLst>
              <a:gd name="adj" fmla="val 5632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646908" y="4322921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 Expansion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6256496" y="4666178"/>
            <a:ext cx="4765477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Explore alternative classifiers (Logistic Regression, XGBoost) and add regularization to the current NN.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11276052" y="5816918"/>
            <a:ext cx="22860" cy="476250"/>
          </a:xfrm>
          <a:prstGeom prst="roundRect">
            <a:avLst>
              <a:gd name="adj" fmla="val 291721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1227951" y="5757386"/>
            <a:ext cx="119063" cy="119063"/>
          </a:xfrm>
          <a:prstGeom prst="roundRect">
            <a:avLst>
              <a:gd name="adj" fmla="val 383998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738473" y="6293167"/>
            <a:ext cx="5098137" cy="1184077"/>
          </a:xfrm>
          <a:prstGeom prst="roundRect">
            <a:avLst>
              <a:gd name="adj" fmla="val 5632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0295215" y="6459498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Clinical Calibration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8904803" y="6802755"/>
            <a:ext cx="4765477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Calibrate prediction probabilities to establish reliable clinical decision thresholds that manage risk trade-offs.</a:t>
            </a:r>
            <a:endParaRPr lang="en-US" sz="125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86BCF964-33E6-12B6-5480-0E292553F0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4455" y="7738230"/>
            <a:ext cx="1771650" cy="4381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051572"/>
            <a:ext cx="13042821" cy="2126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700"/>
              </a:lnSpc>
              <a:buNone/>
            </a:pPr>
            <a:r>
              <a:rPr lang="en-US" sz="13350" b="1" i="1" dirty="0">
                <a:solidFill>
                  <a:srgbClr val="7030A0"/>
                </a:solidFill>
                <a:latin typeface="Lucida Calligraphy" panose="03010101010101010101" pitchFamily="66" charset="0"/>
                <a:ea typeface="Raleway" pitchFamily="34" charset="-122"/>
                <a:cs typeface="Raleway" pitchFamily="34" charset="-120"/>
              </a:rPr>
              <a:t>Thank You!</a:t>
            </a:r>
            <a:endParaRPr lang="en-US" sz="13350" dirty="0">
              <a:solidFill>
                <a:srgbClr val="7030A0"/>
              </a:solidFill>
              <a:latin typeface="Lucida Calligraphy" panose="03010101010101010101" pitchFamily="66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D1FACA-69F8-3080-8470-55B3DC3621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8750" y="7671660"/>
            <a:ext cx="1771650" cy="4381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1197</Words>
  <Application>Microsoft Office PowerPoint</Application>
  <PresentationFormat>Custom</PresentationFormat>
  <Paragraphs>160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Roboto</vt:lpstr>
      <vt:lpstr>Arial</vt:lpstr>
      <vt:lpstr>Consolas</vt:lpstr>
      <vt:lpstr>Raleway Light</vt:lpstr>
      <vt:lpstr>Raleway</vt:lpstr>
      <vt:lpstr>Lucida Calligraphy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RADHYA HASAN</dc:creator>
  <cp:lastModifiedBy>RADHYA HASAN</cp:lastModifiedBy>
  <cp:revision>2</cp:revision>
  <dcterms:created xsi:type="dcterms:W3CDTF">2025-11-11T22:31:48Z</dcterms:created>
  <dcterms:modified xsi:type="dcterms:W3CDTF">2026-09-03T15:14:37Z</dcterms:modified>
</cp:coreProperties>
</file>